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64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5796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B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2344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Pizza Pro Analytics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13232" y="19385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CEBFF"/>
                </a:solidFill>
              </a:rPr>
              <a:t>Detailed Business Insights &amp; Recommendations Report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13232" y="2670048"/>
            <a:ext cx="2651760" cy="256032"/>
          </a:xfrm>
          <a:prstGeom prst="roundRect">
            <a:avLst>
              <a:gd name="adj" fmla="val 21429"/>
            </a:avLst>
          </a:prstGeom>
          <a:solidFill>
            <a:srgbClr val="B65A00"/>
          </a:solidFill>
          <a:ln w="12700">
            <a:solidFill>
              <a:srgbClr val="B65A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2729484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Power BI  •  DAX  •  Data Storytelling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13232" y="614476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CEBFF"/>
                </a:solidFill>
              </a:rPr>
              <a:t>Prepared by: Aminat Ajose</a:t>
            </a:r>
            <a:endParaRPr lang="en-US" sz="11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9254ADF-6CE4-4BA4-8933-0EDB8B88B8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2632" y="1356671"/>
            <a:ext cx="6437536" cy="301994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73B6D"/>
          </a:solidFill>
          <a:ln w="12700">
            <a:solidFill>
              <a:srgbClr val="173B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0116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Business Problem, Objective and Analytics Approach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5212080" cy="5029200"/>
          </a:xfrm>
          <a:prstGeom prst="roundRect">
            <a:avLst>
              <a:gd name="adj" fmla="val 109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051560"/>
            <a:ext cx="100584" cy="5029200"/>
          </a:xfrm>
          <a:prstGeom prst="rect">
            <a:avLst/>
          </a:prstGeom>
          <a:solidFill>
            <a:srgbClr val="1673C9"/>
          </a:solidFill>
          <a:ln w="12700">
            <a:solidFill>
              <a:srgbClr val="1673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207008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B6D"/>
                </a:solidFill>
              </a:rPr>
              <a:t>Business problem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554480"/>
            <a:ext cx="4709160" cy="4370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D2433"/>
                </a:solidFill>
              </a:rPr>
              <a:t>• Pizza Pro needs clear visibility of what is driving revenue, demand and customer value.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D2433"/>
                </a:solidFill>
              </a:rPr>
              <a:t>• The business must identify top-performing pizzas, weak menu items and peak ordering periods.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D2433"/>
                </a:solidFill>
              </a:rPr>
              <a:t>• Customer and regional behaviour should guide marketing, loyalty and growth decisions.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309360" y="1051560"/>
            <a:ext cx="5212080" cy="5029200"/>
          </a:xfrm>
          <a:prstGeom prst="roundRect">
            <a:avLst>
              <a:gd name="adj" fmla="val 109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0" y="1051560"/>
            <a:ext cx="100584" cy="5029200"/>
          </a:xfrm>
          <a:prstGeom prst="rect">
            <a:avLst/>
          </a:prstGeom>
          <a:solidFill>
            <a:srgbClr val="B65A00"/>
          </a:solidFill>
          <a:ln w="12700">
            <a:solidFill>
              <a:srgbClr val="B65A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1207008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B6D"/>
                </a:solidFill>
              </a:rPr>
              <a:t>Project objective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83680" y="1554480"/>
            <a:ext cx="4709160" cy="4370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D2433"/>
                </a:solidFill>
              </a:rPr>
              <a:t>• Convert sales and customer data into decision-ready Power BI dashboards.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D2433"/>
                </a:solidFill>
              </a:rPr>
              <a:t>• Summarise product, time, customer and location patterns using business KPIs.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D2433"/>
                </a:solidFill>
              </a:rPr>
              <a:t>• Translate dashboard findings into practical recommendations for revenue growth and operational improvement.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73B6D"/>
          </a:solidFill>
          <a:ln w="12700">
            <a:solidFill>
              <a:srgbClr val="173B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0116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Overall Business Performance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94360" y="960120"/>
            <a:ext cx="1737360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3970">
            <a:solidFill>
              <a:srgbClr val="CBD5E1"/>
            </a:solidFill>
            <a:prstDash val="solid"/>
          </a:ln>
          <a:effectLst>
            <a:outerShdw blurRad="12700" dist="50800" dir="2700000" algn="bl" rotWithShape="0">
              <a:srgbClr val="D6DDE8">
                <a:alpha val="2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960120"/>
            <a:ext cx="73152" cy="69494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106424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E7D32"/>
                </a:solidFill>
              </a:rPr>
              <a:t>$824,320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58952" y="1399032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b="1" dirty="0">
                <a:solidFill>
                  <a:srgbClr val="5E6B7A"/>
                </a:solidFill>
              </a:rPr>
              <a:t>Total Revenue</a:t>
            </a:r>
            <a:endParaRPr lang="en-US" sz="870" dirty="0"/>
          </a:p>
        </p:txBody>
      </p:sp>
      <p:sp>
        <p:nvSpPr>
          <p:cNvPr id="8" name="Shape 6"/>
          <p:cNvSpPr/>
          <p:nvPr/>
        </p:nvSpPr>
        <p:spPr>
          <a:xfrm>
            <a:off x="2514600" y="960120"/>
            <a:ext cx="1737360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3970">
            <a:solidFill>
              <a:srgbClr val="CBD5E1"/>
            </a:solidFill>
            <a:prstDash val="solid"/>
          </a:ln>
          <a:effectLst>
            <a:outerShdw blurRad="12700" dist="50800" dir="2700000" algn="bl" rotWithShape="0">
              <a:srgbClr val="D6DDE8">
                <a:alpha val="2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14600" y="960120"/>
            <a:ext cx="73152" cy="694944"/>
          </a:xfrm>
          <a:prstGeom prst="rect">
            <a:avLst/>
          </a:prstGeom>
          <a:solidFill>
            <a:srgbClr val="1673C9"/>
          </a:solidFill>
          <a:ln w="12700">
            <a:solidFill>
              <a:srgbClr val="1673C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79192" y="1106424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673C9"/>
                </a:solidFill>
              </a:rPr>
              <a:t>48,620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679192" y="1399032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b="1" dirty="0">
                <a:solidFill>
                  <a:srgbClr val="5E6B7A"/>
                </a:solidFill>
              </a:rPr>
              <a:t>Total Orders</a:t>
            </a:r>
            <a:endParaRPr lang="en-US" sz="870" dirty="0"/>
          </a:p>
        </p:txBody>
      </p:sp>
      <p:sp>
        <p:nvSpPr>
          <p:cNvPr id="12" name="Shape 10"/>
          <p:cNvSpPr/>
          <p:nvPr/>
        </p:nvSpPr>
        <p:spPr>
          <a:xfrm>
            <a:off x="4434840" y="960120"/>
            <a:ext cx="1737360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3970">
            <a:solidFill>
              <a:srgbClr val="CBD5E1"/>
            </a:solidFill>
            <a:prstDash val="solid"/>
          </a:ln>
          <a:effectLst>
            <a:outerShdw blurRad="12700" dist="50800" dir="2700000" algn="bl" rotWithShape="0">
              <a:srgbClr val="D6DDE8">
                <a:alpha val="2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34840" y="960120"/>
            <a:ext cx="73152" cy="694944"/>
          </a:xfrm>
          <a:prstGeom prst="rect">
            <a:avLst/>
          </a:prstGeom>
          <a:solidFill>
            <a:srgbClr val="1673C9"/>
          </a:solidFill>
          <a:ln w="12700">
            <a:solidFill>
              <a:srgbClr val="1673C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99432" y="1106424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673C9"/>
                </a:solidFill>
              </a:rPr>
              <a:t>50,084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99432" y="1399032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b="1" dirty="0">
                <a:solidFill>
                  <a:srgbClr val="5E6B7A"/>
                </a:solidFill>
              </a:rPr>
              <a:t>Pizzas Sold</a:t>
            </a:r>
            <a:endParaRPr lang="en-US" sz="870" dirty="0"/>
          </a:p>
        </p:txBody>
      </p:sp>
      <p:sp>
        <p:nvSpPr>
          <p:cNvPr id="16" name="Shape 14"/>
          <p:cNvSpPr/>
          <p:nvPr/>
        </p:nvSpPr>
        <p:spPr>
          <a:xfrm>
            <a:off x="6355080" y="960120"/>
            <a:ext cx="1737360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3970">
            <a:solidFill>
              <a:srgbClr val="CBD5E1"/>
            </a:solidFill>
            <a:prstDash val="solid"/>
          </a:ln>
          <a:effectLst>
            <a:outerShdw blurRad="12700" dist="50800" dir="2700000" algn="bl" rotWithShape="0">
              <a:srgbClr val="D6DDE8">
                <a:alpha val="2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55080" y="960120"/>
            <a:ext cx="73152" cy="694944"/>
          </a:xfrm>
          <a:prstGeom prst="rect">
            <a:avLst/>
          </a:prstGeom>
          <a:solidFill>
            <a:srgbClr val="173B6D"/>
          </a:solidFill>
          <a:ln w="12700">
            <a:solidFill>
              <a:srgbClr val="173B6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19672" y="1106424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73B6D"/>
                </a:solidFill>
              </a:rPr>
              <a:t>1,000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519672" y="1399032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b="1" dirty="0">
                <a:solidFill>
                  <a:srgbClr val="5E6B7A"/>
                </a:solidFill>
              </a:rPr>
              <a:t>Customers</a:t>
            </a:r>
            <a:endParaRPr lang="en-US" sz="870" dirty="0"/>
          </a:p>
        </p:txBody>
      </p:sp>
      <p:sp>
        <p:nvSpPr>
          <p:cNvPr id="20" name="Shape 18"/>
          <p:cNvSpPr/>
          <p:nvPr/>
        </p:nvSpPr>
        <p:spPr>
          <a:xfrm>
            <a:off x="8275320" y="960120"/>
            <a:ext cx="1463040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3970">
            <a:solidFill>
              <a:srgbClr val="CBD5E1"/>
            </a:solidFill>
            <a:prstDash val="solid"/>
          </a:ln>
          <a:effectLst>
            <a:outerShdw blurRad="12700" dist="50800" dir="2700000" algn="bl" rotWithShape="0">
              <a:srgbClr val="D6DDE8">
                <a:alpha val="2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75320" y="960120"/>
            <a:ext cx="73152" cy="694944"/>
          </a:xfrm>
          <a:prstGeom prst="rect">
            <a:avLst/>
          </a:prstGeom>
          <a:solidFill>
            <a:srgbClr val="B65A00"/>
          </a:solidFill>
          <a:ln w="12700">
            <a:solidFill>
              <a:srgbClr val="B65A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39912" y="1106424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B65A00"/>
                </a:solidFill>
              </a:rPr>
              <a:t>$17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439912" y="1399032"/>
            <a:ext cx="1207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b="1" dirty="0">
                <a:solidFill>
                  <a:srgbClr val="5E6B7A"/>
                </a:solidFill>
              </a:rPr>
              <a:t>Average Order Value</a:t>
            </a:r>
            <a:endParaRPr lang="en-US" sz="870" dirty="0"/>
          </a:p>
        </p:txBody>
      </p:sp>
      <p:sp>
        <p:nvSpPr>
          <p:cNvPr id="24" name="Shape 22"/>
          <p:cNvSpPr/>
          <p:nvPr/>
        </p:nvSpPr>
        <p:spPr>
          <a:xfrm>
            <a:off x="9921240" y="960120"/>
            <a:ext cx="1645920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3970">
            <a:solidFill>
              <a:srgbClr val="CBD5E1"/>
            </a:solidFill>
            <a:prstDash val="solid"/>
          </a:ln>
          <a:effectLst>
            <a:outerShdw blurRad="12700" dist="50800" dir="2700000" algn="bl" rotWithShape="0">
              <a:srgbClr val="D6DDE8">
                <a:alpha val="2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921240" y="960120"/>
            <a:ext cx="73152" cy="694944"/>
          </a:xfrm>
          <a:prstGeom prst="rect">
            <a:avLst/>
          </a:prstGeom>
          <a:solidFill>
            <a:srgbClr val="B65A00"/>
          </a:solidFill>
          <a:ln w="12700">
            <a:solidFill>
              <a:srgbClr val="B65A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85832" y="1106424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B65A00"/>
                </a:solidFill>
              </a:rPr>
              <a:t>$824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0085832" y="1399032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b="1" dirty="0">
                <a:solidFill>
                  <a:srgbClr val="5E6B7A"/>
                </a:solidFill>
              </a:rPr>
              <a:t>Revenue / Customer</a:t>
            </a:r>
            <a:endParaRPr lang="en-US" sz="870" dirty="0"/>
          </a:p>
        </p:txBody>
      </p:sp>
      <p:sp>
        <p:nvSpPr>
          <p:cNvPr id="28" name="Shape 26"/>
          <p:cNvSpPr/>
          <p:nvPr/>
        </p:nvSpPr>
        <p:spPr>
          <a:xfrm>
            <a:off x="594360" y="1874520"/>
            <a:ext cx="5715000" cy="4251960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1984248"/>
            <a:ext cx="5440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73B6D"/>
                </a:solidFill>
              </a:rPr>
              <a:t>Dashboard view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6629400" y="1874520"/>
            <a:ext cx="4709160" cy="425196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629400" y="1874520"/>
            <a:ext cx="100584" cy="4251960"/>
          </a:xfrm>
          <a:prstGeom prst="rect">
            <a:avLst/>
          </a:prstGeom>
          <a:solidFill>
            <a:srgbClr val="B65A00"/>
          </a:solidFill>
          <a:ln w="12700">
            <a:solidFill>
              <a:srgbClr val="B65A0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858000" y="2029968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B6D"/>
                </a:solidFill>
              </a:rPr>
              <a:t>What the KPIs show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6903720" y="2377440"/>
            <a:ext cx="4206240" cy="3593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D2433"/>
                </a:solidFill>
              </a:rPr>
              <a:t>• Sales volume is strong: 50K pizzas sold from 48.6K orders.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D2433"/>
                </a:solidFill>
              </a:rPr>
              <a:t>• AOV is only $17, so revenue growth should target basket size, not only new customers.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D2433"/>
                </a:solidFill>
              </a:rPr>
              <a:t>• Average revenue per customer is high at $824, suggesting strong repeat purchasing behaviour.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D2433"/>
                </a:solidFill>
              </a:rPr>
              <a:t>• Action: introduce bundles, add-ons and loyalty incentives to increase value per transaction.</a:t>
            </a:r>
            <a:endParaRPr lang="en-US" sz="115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F5AC4528-A37F-4C8C-A5C2-B5D3B011DB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51" y="2294662"/>
            <a:ext cx="5474149" cy="345691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73B6D"/>
          </a:solidFill>
          <a:ln w="12700">
            <a:solidFill>
              <a:srgbClr val="173B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0116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Monthly Revenue Pattern and Seasonality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94360" y="841248"/>
            <a:ext cx="6355080" cy="5440680"/>
          </a:xfrm>
          <a:prstGeom prst="roundRect">
            <a:avLst>
              <a:gd name="adj" fmla="val 84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9620" y="961564"/>
            <a:ext cx="6080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73B6D"/>
                </a:solidFill>
              </a:rPr>
              <a:t>Sales and product dashboard snapshot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7360920" y="960120"/>
            <a:ext cx="416052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60920" y="960120"/>
            <a:ext cx="100584" cy="2743200"/>
          </a:xfrm>
          <a:prstGeom prst="rect">
            <a:avLst/>
          </a:prstGeom>
          <a:solidFill>
            <a:srgbClr val="B65A00"/>
          </a:solidFill>
          <a:ln w="12700">
            <a:solidFill>
              <a:srgbClr val="B65A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89520" y="111556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B6D"/>
                </a:solidFill>
              </a:rPr>
              <a:t>Trend insight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635240" y="1463040"/>
            <a:ext cx="3657600" cy="2084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1150" dirty="0">
                <a:solidFill>
                  <a:srgbClr val="1D2433"/>
                </a:solidFill>
              </a:rPr>
              <a:t>• </a:t>
            </a:r>
            <a:r>
              <a:rPr lang="en-US" sz="1150" dirty="0"/>
              <a:t>Pizza Pro maintained a relatively stable monthly revenue pattern, with sales generally ranging between $64K and $74K across the year.</a:t>
            </a:r>
          </a:p>
          <a:p>
            <a:r>
              <a:rPr lang="en-US" sz="1150" dirty="0">
                <a:solidFill>
                  <a:srgbClr val="1D2433"/>
                </a:solidFill>
              </a:rPr>
              <a:t>•  </a:t>
            </a:r>
            <a:r>
              <a:rPr lang="en-US" sz="1150" dirty="0"/>
              <a:t>The strongest month was January at approximately $74K, followed by July at about $73K and May at around $71K. </a:t>
            </a:r>
          </a:p>
          <a:p>
            <a:r>
              <a:rPr lang="en-US" sz="1150" dirty="0">
                <a:solidFill>
                  <a:srgbClr val="1D2433"/>
                </a:solidFill>
              </a:rPr>
              <a:t>•  </a:t>
            </a:r>
            <a:r>
              <a:rPr lang="en-US" sz="1150" dirty="0"/>
              <a:t>The weakest months were September and October, both at approximately $64K, showing a slight decline after the summer period.</a:t>
            </a:r>
          </a:p>
          <a:p>
            <a:r>
              <a:rPr lang="en-US" sz="1150" dirty="0">
                <a:solidFill>
                  <a:srgbClr val="1D2433"/>
                </a:solidFill>
              </a:rPr>
              <a:t>• </a:t>
            </a:r>
            <a:r>
              <a:rPr lang="en-US" sz="1150" dirty="0"/>
              <a:t>Action:</a:t>
            </a:r>
            <a:r>
              <a:rPr lang="en-US" sz="1150" dirty="0">
                <a:solidFill>
                  <a:srgbClr val="1D2433"/>
                </a:solidFill>
              </a:rPr>
              <a:t> use a monthly promotion calendar to strengthen weaker months</a:t>
            </a:r>
            <a:r>
              <a:rPr lang="en-US" sz="1150" dirty="0"/>
              <a:t>, especially September and October, to maintain stronger revenue momentum.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360920" y="3977640"/>
            <a:ext cx="4160520" cy="2679192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360920" y="3977639"/>
            <a:ext cx="100584" cy="2679191"/>
          </a:xfrm>
          <a:prstGeom prst="rect">
            <a:avLst/>
          </a:prstGeom>
          <a:solidFill>
            <a:srgbClr val="1673C9"/>
          </a:solidFill>
          <a:ln w="12700">
            <a:solidFill>
              <a:srgbClr val="1673C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589520" y="41330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B6D"/>
                </a:solidFill>
              </a:rPr>
              <a:t>Operational implication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589520" y="4480560"/>
            <a:ext cx="3749040" cy="199724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r>
              <a:rPr lang="en-US" sz="1150" dirty="0">
                <a:solidFill>
                  <a:srgbClr val="1D2433"/>
                </a:solidFill>
              </a:rPr>
              <a:t>•  </a:t>
            </a:r>
            <a:r>
              <a:rPr lang="en-US" sz="1150" dirty="0"/>
              <a:t>Order activity is strongest during lunchtime, particularly between 12 PM and 1 PM. </a:t>
            </a:r>
          </a:p>
          <a:p>
            <a:r>
              <a:rPr lang="en-US" sz="1150" dirty="0">
                <a:solidFill>
                  <a:srgbClr val="1D2433"/>
                </a:solidFill>
              </a:rPr>
              <a:t>•  </a:t>
            </a:r>
            <a:r>
              <a:rPr lang="en-US" sz="1150" dirty="0"/>
              <a:t>There is also strong evening demand, especially on Friday and Saturday between 6 PM and 8 PM.</a:t>
            </a:r>
          </a:p>
          <a:p>
            <a:r>
              <a:rPr lang="en-US" sz="1150" dirty="0"/>
              <a:t> </a:t>
            </a:r>
            <a:r>
              <a:rPr lang="en-US" sz="1150" dirty="0">
                <a:solidFill>
                  <a:srgbClr val="1D2433"/>
                </a:solidFill>
              </a:rPr>
              <a:t>•  </a:t>
            </a:r>
            <a:r>
              <a:rPr lang="en-US" sz="1150" dirty="0"/>
              <a:t>In contrast, very early and late hours, such as 9 AM, 10 AM, and 11 PM, show much lower activity.</a:t>
            </a:r>
          </a:p>
          <a:p>
            <a:r>
              <a:rPr lang="en-US" sz="1150" dirty="0"/>
              <a:t> </a:t>
            </a:r>
            <a:r>
              <a:rPr lang="en-US" sz="1150" dirty="0">
                <a:solidFill>
                  <a:srgbClr val="1D2433"/>
                </a:solidFill>
              </a:rPr>
              <a:t>• </a:t>
            </a:r>
            <a:r>
              <a:rPr lang="en-US" sz="1150" b="1" dirty="0">
                <a:solidFill>
                  <a:srgbClr val="1D2433"/>
                </a:solidFill>
              </a:rPr>
              <a:t> </a:t>
            </a:r>
            <a:r>
              <a:rPr lang="en-US" sz="1150" dirty="0"/>
              <a:t>Action: </a:t>
            </a:r>
            <a:r>
              <a:rPr lang="en-US" sz="1150" dirty="0" err="1"/>
              <a:t>Prioritise</a:t>
            </a:r>
            <a:r>
              <a:rPr lang="en-US" sz="1150" dirty="0"/>
              <a:t> staffing, stock preparation, and delivery capacity around 12 PM–1 PM, while also preparing for stronger evening demand on Fridays and Saturdays.</a:t>
            </a:r>
          </a:p>
          <a:p>
            <a:r>
              <a:rPr lang="en-US" sz="1150" dirty="0">
                <a:solidFill>
                  <a:srgbClr val="1D2433"/>
                </a:solidFill>
              </a:rPr>
              <a:t>• Off-peak discounts can help spread demand more evenly across the day.</a:t>
            </a:r>
          </a:p>
          <a:p>
            <a:endParaRPr lang="en-US" sz="1150" dirty="0"/>
          </a:p>
          <a:p>
            <a:pPr marL="0" indent="0">
              <a:buNone/>
            </a:pPr>
            <a:endParaRPr lang="en-US" sz="11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7E51530-2CB5-4C3F-9005-F0D326407B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19" y="1264760"/>
            <a:ext cx="6080760" cy="249496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BEC9338-174A-4A01-8990-135C570FAC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560" y="3998040"/>
            <a:ext cx="6141719" cy="224731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73B6D"/>
          </a:solidFill>
          <a:ln w="12700">
            <a:solidFill>
              <a:srgbClr val="173B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0116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Revenue Leaders and Menu Items Requiring Review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5166360" cy="2788920"/>
          </a:xfrm>
          <a:prstGeom prst="roundRect">
            <a:avLst>
              <a:gd name="adj" fmla="val 163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69848"/>
            <a:ext cx="4892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73B6D"/>
                </a:solidFill>
              </a:rPr>
              <a:t>Top revenue pizzas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02920" y="3977639"/>
            <a:ext cx="5166360" cy="2737373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4087368"/>
            <a:ext cx="4892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73B6D"/>
                </a:solidFill>
              </a:rPr>
              <a:t>Bottom revenue pizzas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6080760" y="960120"/>
            <a:ext cx="5440680" cy="242316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080760" y="960120"/>
            <a:ext cx="100584" cy="2423160"/>
          </a:xfrm>
          <a:prstGeom prst="rect">
            <a:avLst/>
          </a:prstGeom>
          <a:solidFill>
            <a:srgbClr val="1673C9"/>
          </a:solidFill>
          <a:ln w="12700">
            <a:solidFill>
              <a:srgbClr val="1673C9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309360" y="111556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B6D"/>
                </a:solidFill>
              </a:rPr>
              <a:t>Key findings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355080" y="1463040"/>
            <a:ext cx="4937760" cy="1764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D2433"/>
                </a:solidFill>
              </a:rPr>
              <a:t>• Thai Chicken and Barbecue Chicken lead revenue at approximately $43K each.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D2433"/>
                </a:solidFill>
              </a:rPr>
              <a:t>• California Chicken follows closely at about $41K, so Chicken pizzas dominate the top 3.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D2433"/>
                </a:solidFill>
              </a:rPr>
              <a:t>• Brie Carre is the weakest revenue product at about $11.6K.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D2433"/>
                </a:solidFill>
              </a:rPr>
              <a:t>• Spinach Pesto, Mediterranean, Spinach Supreme and Green Garden are also low revenue products.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103620" y="3977639"/>
            <a:ext cx="5440680" cy="2743201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097050" y="3977639"/>
            <a:ext cx="137160" cy="2743201"/>
          </a:xfrm>
          <a:prstGeom prst="rect">
            <a:avLst/>
          </a:prstGeom>
          <a:solidFill>
            <a:srgbClr val="B65A00"/>
          </a:solidFill>
          <a:ln w="12700">
            <a:solidFill>
              <a:srgbClr val="B65A0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309360" y="4041649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B6D"/>
                </a:solidFill>
              </a:rPr>
              <a:t>Recommendation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6332220" y="4398264"/>
            <a:ext cx="4937760" cy="1993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D2433"/>
                </a:solidFill>
              </a:rPr>
              <a:t>• Label Thai, BBQ and California Chicken as “Best Sellers” and use them in premium bundles.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D2433"/>
                </a:solidFill>
              </a:rPr>
              <a:t>• Run a 4-week test on low performers: menu repositioning, price adjustment and product description change.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D2433"/>
                </a:solidFill>
              </a:rPr>
              <a:t>• If Brie Carre remains weak after testing, consider replacing it with a product closer to customer demand.</a:t>
            </a:r>
            <a:endParaRPr lang="en-US" sz="115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27D0F39-CEA9-4AB1-9C56-F9D3E7C52D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39" y="1292555"/>
            <a:ext cx="4754881" cy="237933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30FEC04-5FCB-4498-A3A2-DB47ECB7A5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830" y="4364453"/>
            <a:ext cx="4399564" cy="235055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73B6D"/>
          </a:solidFill>
          <a:ln w="12700">
            <a:solidFill>
              <a:srgbClr val="173B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0116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Order Quantity Shows Popularity, Not Just Revenue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5257800" cy="274320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69848"/>
            <a:ext cx="4983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73B6D"/>
                </a:solidFill>
              </a:rPr>
              <a:t>Most ordered pizzas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02920" y="3913632"/>
            <a:ext cx="5257800" cy="2487168"/>
          </a:xfrm>
          <a:prstGeom prst="roundRect">
            <a:avLst>
              <a:gd name="adj" fmla="val 18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4023360"/>
            <a:ext cx="4983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73B6D"/>
                </a:solidFill>
              </a:rPr>
              <a:t>Least ordered pizzas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6172200" y="960120"/>
            <a:ext cx="5257800" cy="288036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172200" y="960120"/>
            <a:ext cx="100584" cy="2880360"/>
          </a:xfrm>
          <a:prstGeom prst="rect">
            <a:avLst/>
          </a:prstGeom>
          <a:solidFill>
            <a:srgbClr val="1673C9"/>
          </a:solidFill>
          <a:ln w="12700">
            <a:solidFill>
              <a:srgbClr val="1673C9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400800" y="1115568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B6D"/>
                </a:solidFill>
              </a:rPr>
              <a:t>Demand insight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446520" y="1463040"/>
            <a:ext cx="4754880" cy="2221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D2433"/>
                </a:solidFill>
              </a:rPr>
              <a:t>• Classic Deluxe and Barbecue Chicken are the most ordered pizzas at around 2.4K orders each.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D2433"/>
                </a:solidFill>
              </a:rPr>
              <a:t>• Thai Chicken and California Chicken are also strong demand products at about 2.3K orders each.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D2433"/>
                </a:solidFill>
              </a:rPr>
              <a:t>• Brie Carre has only 480 orders, far below the top products and confirming weak demand.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D2433"/>
                </a:solidFill>
              </a:rPr>
              <a:t>• The strongest products are both popular and high revenue, making them critical menu anchors.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172200" y="4160520"/>
            <a:ext cx="5257800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172200" y="4160520"/>
            <a:ext cx="100584" cy="2240280"/>
          </a:xfrm>
          <a:prstGeom prst="rect">
            <a:avLst/>
          </a:prstGeom>
          <a:solidFill>
            <a:srgbClr val="B65A00"/>
          </a:solidFill>
          <a:ln w="12700">
            <a:solidFill>
              <a:srgbClr val="B65A0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400800" y="4315968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B6D"/>
                </a:solidFill>
              </a:rPr>
              <a:t>Stock and menu action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6446520" y="4663440"/>
            <a:ext cx="4754880" cy="1581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D2433"/>
                </a:solidFill>
              </a:rPr>
              <a:t>• Protect ingredient availability for Classic Deluxe, BBQ Chicken, Thai Chicken and California Chicken.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D2433"/>
                </a:solidFill>
              </a:rPr>
              <a:t>• Create low-waste stock plans for low-demand pizzas to avoid tying up inventory.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D2433"/>
                </a:solidFill>
              </a:rPr>
              <a:t>• Use customer feedback before removing weak products to avoid losing niche customers unnecessarily.</a:t>
            </a:r>
            <a:endParaRPr lang="en-US" sz="115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A065525D-B9EC-45BD-A760-49356F647A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647" y="1235076"/>
            <a:ext cx="4408372" cy="240527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0709ABF-DF2F-4A28-AB4E-5EE660A716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176" y="4206240"/>
            <a:ext cx="4445264" cy="212538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73B6D"/>
          </a:solidFill>
          <a:ln w="12700">
            <a:solidFill>
              <a:srgbClr val="173B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0116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Who Buys, Where They Are, and How to Retain Them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960119"/>
            <a:ext cx="5669280" cy="5421429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69848"/>
            <a:ext cx="5394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73B6D"/>
                </a:solidFill>
              </a:rPr>
              <a:t>Customer dashboard snapshot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6537960" y="960120"/>
            <a:ext cx="4983480" cy="27889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6537960" y="960120"/>
            <a:ext cx="100584" cy="2788920"/>
          </a:xfrm>
          <a:prstGeom prst="rect">
            <a:avLst/>
          </a:prstGeom>
          <a:solidFill>
            <a:srgbClr val="1673C9"/>
          </a:solidFill>
          <a:ln w="12700">
            <a:solidFill>
              <a:srgbClr val="1673C9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6766560" y="111556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B6D"/>
                </a:solidFill>
              </a:rPr>
              <a:t>Customer and regional insight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6812280" y="1463040"/>
            <a:ext cx="4480560" cy="2130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D2433"/>
                </a:solidFill>
              </a:rPr>
              <a:t>• Pizza Pro has 1,000 customers,  </a:t>
            </a:r>
            <a:r>
              <a:rPr lang="en-US" sz="1150" dirty="0"/>
              <a:t>generating an average revenue of $824 per customer</a:t>
            </a:r>
            <a:r>
              <a:rPr lang="en-US" sz="1150" dirty="0">
                <a:solidFill>
                  <a:srgbClr val="1D2433"/>
                </a:solidFill>
              </a:rPr>
              <a:t>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D2433"/>
                </a:solidFill>
              </a:rPr>
              <a:t>• Gender distribution is balanced: Female 46%, Male 44.2%, Others/Unknown 9.8%.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1D2433"/>
                </a:solidFill>
              </a:rPr>
              <a:t>•  </a:t>
            </a:r>
            <a:r>
              <a:rPr lang="en-US" sz="1150" dirty="0"/>
              <a:t>Top customers such as </a:t>
            </a:r>
            <a:r>
              <a:rPr lang="en-US" sz="1150" dirty="0" err="1"/>
              <a:t>Djokic</a:t>
            </a:r>
            <a:r>
              <a:rPr lang="en-US" sz="1150" dirty="0"/>
              <a:t> </a:t>
            </a:r>
            <a:r>
              <a:rPr lang="en-US" sz="1150" dirty="0" err="1"/>
              <a:t>Torry</a:t>
            </a:r>
            <a:r>
              <a:rPr lang="en-US" sz="1150" dirty="0"/>
              <a:t> ($4,035) and </a:t>
            </a:r>
            <a:r>
              <a:rPr lang="en-US" sz="1150" dirty="0" err="1"/>
              <a:t>Muscroft</a:t>
            </a:r>
            <a:r>
              <a:rPr lang="en-US" sz="1150" dirty="0"/>
              <a:t> Ernesto ($3,224) highlight an opportunity for VIP rewards and </a:t>
            </a:r>
            <a:r>
              <a:rPr lang="en-US" sz="1150" dirty="0" err="1"/>
              <a:t>personalised</a:t>
            </a:r>
            <a:r>
              <a:rPr lang="en-US" sz="1150" dirty="0"/>
              <a:t> loyalty campaigns.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1D2433"/>
                </a:solidFill>
              </a:rPr>
              <a:t>• Customer density is strongest on the East Coast, especially the Northeast and Mid-Atlantic.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D2433"/>
                </a:solidFill>
              </a:rPr>
              <a:t>• There are also visible customer clusters in California and parts of the Midwest.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6537960" y="4069080"/>
            <a:ext cx="4983480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6537960" y="4069080"/>
            <a:ext cx="100584" cy="2240280"/>
          </a:xfrm>
          <a:prstGeom prst="rect">
            <a:avLst/>
          </a:prstGeom>
          <a:solidFill>
            <a:srgbClr val="B65A00"/>
          </a:solidFill>
          <a:ln w="12700">
            <a:solidFill>
              <a:srgbClr val="B65A00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6766560" y="422452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B6D"/>
                </a:solidFill>
              </a:rPr>
              <a:t>Customer action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812280" y="4572000"/>
            <a:ext cx="4480560" cy="1581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D2433"/>
                </a:solidFill>
              </a:rPr>
              <a:t>• Create a VIP segment for customers spending above $1,000.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D2433"/>
                </a:solidFill>
              </a:rPr>
              <a:t>• Use East Coast loyalty campaigns to protect the strongest customer base.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D2433"/>
                </a:solidFill>
              </a:rPr>
              <a:t>• Use awareness offers in sparse Central and Mountain West regions.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D2433"/>
                </a:solidFill>
              </a:rPr>
              <a:t>• Focus segmentation on spend, location and purchase behaviour rather than gender alone.</a:t>
            </a:r>
            <a:endParaRPr lang="en-US" sz="11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2A6D978-2547-49D3-A748-6F46A27E6D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550" y="1466900"/>
            <a:ext cx="5493490" cy="422163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73B6D"/>
          </a:solidFill>
          <a:ln w="12700">
            <a:solidFill>
              <a:srgbClr val="173B6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0116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Priority Actions for Revenue Growth and Operational Improvement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960120"/>
            <a:ext cx="525780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960120"/>
            <a:ext cx="100584" cy="2331720"/>
          </a:xfrm>
          <a:prstGeom prst="rect">
            <a:avLst/>
          </a:prstGeom>
          <a:solidFill>
            <a:srgbClr val="1673C9"/>
          </a:solidFill>
          <a:ln w="12700">
            <a:solidFill>
              <a:srgbClr val="1673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115568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B6D"/>
                </a:solidFill>
              </a:rPr>
              <a:t>1. Optimise pizza portfolio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463040"/>
            <a:ext cx="4754880" cy="1673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D2433"/>
                </a:solidFill>
              </a:rPr>
              <a:t>• Market Thai, BBQ and California Chicken as premium best sellers.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D2433"/>
                </a:solidFill>
              </a:rPr>
              <a:t>• Review Brie Carre, Green Garden, Spinach Pesto, Spinach Supreme and Mediterranean pizzas.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D2433"/>
                </a:solidFill>
              </a:rPr>
              <a:t>• Test price, menu placement and recipe changes before discontinuing weak products.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63640" y="960120"/>
            <a:ext cx="525780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63640" y="960120"/>
            <a:ext cx="100584" cy="2331720"/>
          </a:xfrm>
          <a:prstGeom prst="rect">
            <a:avLst/>
          </a:prstGeom>
          <a:solidFill>
            <a:srgbClr val="B65A00"/>
          </a:solidFill>
          <a:ln w="12700">
            <a:solidFill>
              <a:srgbClr val="B65A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115568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B6D"/>
                </a:solidFill>
              </a:rPr>
              <a:t>2. Increase average order value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37960" y="1463040"/>
            <a:ext cx="4754880" cy="1673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D2433"/>
                </a:solidFill>
              </a:rPr>
              <a:t>• Move AOV from $17 upward through bundles, add-ons and family deals.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D2433"/>
                </a:solidFill>
              </a:rPr>
              <a:t>• Promote “pizza + drink + side” offers at checkout.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D2433"/>
                </a:solidFill>
              </a:rPr>
              <a:t>• Use best sellers as anchors for higher-value combo meals.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749040"/>
            <a:ext cx="525780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3749040"/>
            <a:ext cx="100584" cy="23317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904488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B6D"/>
                </a:solidFill>
              </a:rPr>
              <a:t>3. Improve customer retention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4251960"/>
            <a:ext cx="4754880" cy="1673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D2433"/>
                </a:solidFill>
              </a:rPr>
              <a:t>• Create VIP rewards for top customers spending above $1,000.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D2433"/>
                </a:solidFill>
              </a:rPr>
              <a:t>• Introduce points, birthday rewards and repeat-purchase incentives.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D2433"/>
                </a:solidFill>
              </a:rPr>
              <a:t>• Use personalised offers based on product preference and region.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63640" y="3749040"/>
            <a:ext cx="525780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63640" y="3749040"/>
            <a:ext cx="100584" cy="2331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3904488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B6D"/>
                </a:solidFill>
              </a:rPr>
              <a:t>4. Align operations to demand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37960" y="4251960"/>
            <a:ext cx="4754880" cy="1673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D2433"/>
                </a:solidFill>
              </a:rPr>
              <a:t>• Increase staffing and preparation during 12 PM–1 PM peak periods.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D2433"/>
                </a:solidFill>
              </a:rPr>
              <a:t>• Use off-peak discounts for quieter hours and weaker months.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D2433"/>
                </a:solidFill>
              </a:rPr>
              <a:t>• Use state-level marketing for strong regions and awareness campaigns for sparse regions.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1067</Words>
  <Application>Microsoft Office PowerPoint</Application>
  <PresentationFormat>Widescreen</PresentationFormat>
  <Paragraphs>107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Portfolio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Pizza Pro Analytics: Business Insights Report</dc:title>
  <dc:subject>Pizza Pro Analytics Report</dc:subject>
  <dc:creator>Aminat Ajose</dc:creator>
  <cp:lastModifiedBy>Aminat Ajose</cp:lastModifiedBy>
  <cp:revision>7</cp:revision>
  <dcterms:created xsi:type="dcterms:W3CDTF">2026-06-14T17:58:38Z</dcterms:created>
  <dcterms:modified xsi:type="dcterms:W3CDTF">2026-06-15T16:10:39Z</dcterms:modified>
</cp:coreProperties>
</file>